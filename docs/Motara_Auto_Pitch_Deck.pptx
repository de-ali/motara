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Motara Auto · مطرة للسيارات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E3641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0F4C5C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· MUSCAT  ·  سلطنة عُمان · مسقط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Motara Auto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مطرة للسيارات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371600" cy="0"/>
          </a:xfrm>
          <a:prstGeom prst="line">
            <a:avLst/>
          </a:prstGeom>
          <a:noFill/>
          <a:ln w="381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 PWA for Oman's most transparent certified used-car platform.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ويب تقدمي ثنائي اللغة لأكثر منصة سيارات مستعملة شفافية في عُمان.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4206240" cy="50292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486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REVIEW · PHASE 1 BUILD COMPLETE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54864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النموذج الأولي · المرحلة الأولى مكتملة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المشكلة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a used car in Oman is a gamble.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شراء سيارة مستعملة في عُمان مغامرة.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OpenSooq and other classifieds dominate, but offer zero quality control, no inspection reports, no warranty, and blurry photos. Buyers face hidden damage, inflated prices, and no recourse — especially expats unfamiliar with the market.
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inspection or repair history disclosed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Identical-looking listings for trash and gems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warranty, no accountability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Arabic UX, weak mobile experience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2651760"/>
            <a:ext cx="0" cy="3840480"/>
          </a:xfrm>
          <a:prstGeom prst="line">
            <a:avLst/>
          </a:prstGeom>
          <a:noFill/>
          <a:ln w="12700">
            <a:solidFill>
              <a:srgbClr val="E8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65176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تهيمن منصات الإعلانات المبوبة كأوبن سوق، لكنها بلا رقابة جودة ولا تقارير فحص ولا ضمان وبصور رديئة. يواجه المشترون أضرارًا خفية وأسعارًا مبالغًا فيها وانعدام حلول.
</a:t>
            </a:r>
            <a:endParaRPr lang="en-US" sz="1200" dirty="0"/>
          </a:p>
          <a:p>
            <a:pPr rtl="1" algn="r" marL="342900" indent="-342900">
              <a:buSzPct val="100000"/>
              <a:buChar char="■"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يتم الإفصاح عن الفحص أو سجل الإصلاح</a:t>
            </a:r>
            <a:endParaRPr lang="en-US" sz="1200" dirty="0"/>
          </a:p>
          <a:p>
            <a:pPr rtl="1" algn="r" marL="342900" indent="-342900">
              <a:buSzPct val="100000"/>
              <a:buChar char="■"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إعلانات متشابهة للسيارات الجيدة والرديئة</a:t>
            </a:r>
            <a:endParaRPr lang="en-US" sz="1200" dirty="0"/>
          </a:p>
          <a:p>
            <a:pPr rtl="1" algn="r" marL="342900" indent="-342900">
              <a:buSzPct val="100000"/>
              <a:buChar char="■"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ضمان ولا مساءلة</a:t>
            </a:r>
            <a:endParaRPr lang="en-US" sz="1200" dirty="0"/>
          </a:p>
          <a:p>
            <a:pPr rtl="1" algn="r" marL="342900" indent="-342900">
              <a:buSzPct val="100000"/>
              <a:buChar char="■"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عربية ضعيفة وتجربة هاتف رديئة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الحل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trust as a product.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الثقة كمنتج.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Motara controls the full chain: import, refurbishment, certification, sale. Every car ships with a 50-point inspection, repair history with photos, and a real warranty — converting browsers to buyers via a WhatsApp-first funnel.
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50-point inspection report — visual checklist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Photo-documented repair timeline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 warranty included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click-to-chat on every listing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5848" y="2651760"/>
            <a:ext cx="0" cy="3840480"/>
          </a:xfrm>
          <a:prstGeom prst="line">
            <a:avLst/>
          </a:prstGeom>
          <a:noFill/>
          <a:ln w="12700">
            <a:solidFill>
              <a:srgbClr val="E8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65176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تتحكم مطرة في السلسلة الكاملة: الاستيراد، التجديد، الاعتماد، البيع. كل سيارة تصل مع فحص من 50 نقطة، وسجل إصلاح مصور، وضمان حقيقي — تحوّل المتصفحين إلى مشترين عبر قمع مبيعات أساسه واتساب.
</a:t>
            </a:r>
            <a:endParaRPr lang="en-US" sz="1200" dirty="0"/>
          </a:p>
          <a:p>
            <a:pPr rtl="1" algn="r" marL="342900" indent="-342900">
              <a:buSzPct val="100000"/>
              <a:buChar char="■"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فحص من 50 نقطة — قائمة مرئية</a:t>
            </a:r>
            <a:endParaRPr lang="en-US" sz="1200" dirty="0"/>
          </a:p>
          <a:p>
            <a:pPr rtl="1" algn="r" marL="342900" indent="-342900">
              <a:buSzPct val="100000"/>
              <a:buChar char="■"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إصلاح موثق بالصور</a:t>
            </a:r>
            <a:endParaRPr lang="en-US" sz="1200" dirty="0"/>
          </a:p>
          <a:p>
            <a:pPr rtl="1" algn="r" marL="342900" indent="-342900">
              <a:buSzPct val="100000"/>
              <a:buChar char="■"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ضمان 3 إلى 6 أشهر مشمول</a:t>
            </a:r>
            <a:endParaRPr lang="en-US" sz="1200" dirty="0"/>
          </a:p>
          <a:p>
            <a:pPr rtl="1" algn="r" marL="342900" indent="-342900">
              <a:buSzPct val="100000"/>
              <a:buChar char="■"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زر واتساب فوري على كل إعلان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فرصة السوق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first. GCC ready.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عُمان أولاً. الخليج جاهز.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trust-led platform that replicates across the GCC — UAE, Saudi Arabia, Kuwait, Bahrain — once proven in Muscat.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2606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قائمة على الثقة قابلة للتوسع في الخليج — الإمارات والسعودية والكويت والبحرين — بعد إثباتها في مسقط.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6880" y="365760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6880" y="3657600"/>
            <a:ext cx="26060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880" y="3977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4.8M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36880" y="4892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of Oman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8320" y="5257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سكان عُمان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7512" y="365760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7512" y="3657600"/>
            <a:ext cx="26060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7512" y="3977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407512" y="4892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OpenSooq mobile traffic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8952" y="5257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حركة OpenSooq من الهاتف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8144" y="365760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8144" y="3657600"/>
            <a:ext cx="26060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8144" y="3977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178144" y="4892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9584" y="5257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هامش الربح المستهدف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48776" y="365760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48776" y="3657600"/>
            <a:ext cx="2606040" cy="73152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8776" y="3977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8948776" y="4892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expansion markets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40216" y="5257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أسواق التوسع الخليجي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نموذج الأعمال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dealership-marketplace.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وكالة هجينة + سوق إلكتروني.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evolution. Revenue from day one. Path to scale without owning all inventory.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2606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تطور عبر ثلاث مراحل. إيرادات من اليوم الأول. مسار للتوسع بدون امتلاك كل المخزون.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8280" y="338328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8280" y="3383280"/>
            <a:ext cx="109728" cy="310896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4040" y="36118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774040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4040" y="5074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dealership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4040" y="5440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own inventory only. Build trust. Margin: 15–25% per vehicle.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4040" y="5806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وكالة مباشرة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4040" y="6080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المخزون الخاص فقط. بناء الثقة. هامش 15–25% لكل سيارة.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7048" y="338328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7048" y="3383280"/>
            <a:ext cx="109728" cy="310896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2808" y="36118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4632808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32808" y="5074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marketplace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32808" y="5440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verified sellers. Earn 2–5% commission + featured listings.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2808" y="5806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سوق منتقى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32808" y="6080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استقبال بائعين موثقين. عمولة 2–5% + إعلانات مميزة.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25816" y="338328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25816" y="3383280"/>
            <a:ext cx="109728" cy="310896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91576" y="36118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8491576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91576" y="5074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ecosystem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91576" y="5440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Financing, insurance, inspection, logistics referrals (8–15% commission).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91576" y="5806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منظومة متكاملة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91576" y="6080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تمويل، تأمين، فحص، خدمات لوجستية (عمولة 8–15%).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PRODUCT — BUYER SIDE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المنتج — جانب المشتري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fast PWA built for Oman.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ويب تقدمي حديث وسريع مصمم لعُمان.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palette (⌘K) across cars, pages, and articles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بحث شاملة (⌘K) للسيارات والصفحات والمقالات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200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make, body, price, year, mileage, fuel, transmission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فلاتر: الماركة، الهيكل، السعر، السنة، الكيلومترات، الوقود، ناقل الحركة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703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drawer — up to 3 cars side-by-side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703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مقارنة — حتى 3 سيارات جنبًا إلى جنب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206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and recently viewed (localStorage)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المفضلة والمشاهَد مؤخرًا (تخزين محلي)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4709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 booking with date and time picker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09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حجز تجربة قيادة مع اختيار التاريخ والوقت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5212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Lightbox image gallery with 10+ photos per car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معرض صور موسّع بـ10+ صور لكل سيارة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71500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5715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Share API + WhatsApp deep links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5715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مشاركة عبر Web Share API + روابط واتساب مباشرة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TRUST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ميزة الثقة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50-point inspection is the moat.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فحص الـ50 نقطة هو الحاجز التنافسي.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4114800" cy="36576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INSPECTION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577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فحص من 50 نقطة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7432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categories — exterior, interior, mechanical, electrical, road test. Each item is tagged Pass, Repaired (with note + photo), or Note. The score auto-calculates.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40233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خمس فئات — الهيكل الخارجي، المقصورة، الميكانيكا، الكهرباء، اختبار القيادة. كل بند مصنف: ناجح، مُصلَح (مع ملاحظة وصورة)، أو ملاحظة. الدرجة تُحسب تلقائيًا.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5102352"/>
            <a:ext cx="91440" cy="9144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4956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items across 5 categories per car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4956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بندًا عبر 5 فئات لكل سيارة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5468112"/>
            <a:ext cx="91440" cy="9144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5321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attached to repaired items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5321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صور مرفقة بالعناصر المُصلَحة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5833872"/>
            <a:ext cx="91440" cy="9144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5687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repair timeline (received → final)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56875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إصلاح من 4 مراحل (الاستلام → النهائي)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6199632"/>
            <a:ext cx="91440" cy="9144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6053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score out of 100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0" y="60533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درجة تلقائية من 100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CONVERSION FUNNEL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قمع التحويل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WhatsApp-first. 30 seconds from browse to chat.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واتساب أولاً. 30 ثانية من التصفح للمحادثة.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 detail, hero, footer, and floating button opens WhatsApp with a pre-filled message including the car name. The single highest-converting channel in the Oman market.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26060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صفحة تفاصيل سيارة، وقسم رئيسي، وتذييل، وزر عائم يفتح واتساب برسالة مُعبّأة مسبقًا تحتوي اسم السيارة. أعلى قناة تحويل في السوق العُماني.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8048" y="4206240"/>
            <a:ext cx="10515600" cy="411480"/>
          </a:xfrm>
          <a:prstGeom prst="rect">
            <a:avLst/>
          </a:prstGeom>
          <a:solidFill>
            <a:srgbClr val="16707F"/>
          </a:solidFill>
          <a:ln w="12700">
            <a:solidFill>
              <a:srgbClr val="167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928" y="4206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Visit listing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848" y="42062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زيارة الإعلان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52448" y="4709160"/>
            <a:ext cx="8686800" cy="4114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5328" y="4709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inspection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5848" y="47091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قراءة الفحص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66848" y="5212080"/>
            <a:ext cx="6858000" cy="41148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49728" y="5212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Tap WhatsApp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5848" y="5212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الضغط على واتساب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81248" y="5715000"/>
            <a:ext cx="5029200" cy="4114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4128" y="5715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Conversation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5848" y="5715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محادثة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BILINGUAL &amp; RTL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ثنائي اللغة و RTL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Arabic. Not a translation slap.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عربية أصيلة. ليست ترجمة سطحية.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9748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 flips the entire interface — direction, fonts, layouts, and copy. Inter for Latin, IBM Plex Sans Arabic for Arabic. Logical CSS properties (start/end) so every spacing, icon, and motion auto-mirrors.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2697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زر واحد يقلب الواجهة بأكملها — الاتجاه، الخطوط، التخطيطات، النصوص. Inter للاتيني وIBM Plex Sans Arabic للعربي. خصائص CSS منطقية (start/end) لتنعكس المسافات والأيقونات والحركة تلقائيًا.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864" y="47548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864" y="4754880"/>
            <a:ext cx="73152" cy="146304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464" y="49834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RTL layout mirroring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1744" y="553212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انعكاس تخطيط RTL كامل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3504" y="47548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3504" y="4754880"/>
            <a:ext cx="73152" cy="146304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2104" y="49834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font per language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6384" y="553212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 أصلي لكل لغة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8144" y="47548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8144" y="4754880"/>
            <a:ext cx="73152" cy="146304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6744" y="49834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numerals and 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1024" y="553212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أرقام وتواريخ معرّبة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12784" y="4754880"/>
            <a:ext cx="26700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12784" y="4754880"/>
            <a:ext cx="73152" cy="146304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1384" y="49834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+ dark themes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95664" y="553212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مظهر فاتح وداكن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PRODUCT — ADMIN SIDE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المنتج — لوحة الإدارة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dashboard preview.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معاينة لوحة الوكيل.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list — search, filter by status, inline status change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المخزون — بحث وتصفية بالحالة وتغيير حالة سريع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200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car form: basics, specs, photos, inspection, timeline, description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إضافة من 6 خطوات: أساسيات، مواصفات، صور، فحص، خط زمني، وصف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703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drop zone with drag-reorder + primary photo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703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منطقة إفلات صور مع إعادة ترتيب وصورة رئيسية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206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50-point inspection editor with live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محرر فحص 50 نقطة مع حساب الدرجة المباشر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4709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timeline editor with photos per stage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09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محرر سجل الإصلاح مع صور لكل مرحلة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5212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inbox with CSV export (WhatsApp, test drive, form, phone)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صندوق العملاء المحتملين مع تصدير CSV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71500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5715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WhatsApp number, hours, address, ROP/VAT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5715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الإعدادات: رقم واتساب، الساعات، العنوان، التسجيل والضريبة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21792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217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" y="6217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visits, inquiries, conversion, top inquired cars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6217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تحليلات: زيارات، استفسارات، تحويل، أعلى السيارات استفسارًا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PROGRESSIVE WEB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تطبيق ويب تقدمي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Installable. Offline-aware. Native feel.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قابل للتثبيت. يعمل بدون اتصال. بإحساس تطبيق أصلي.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9748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 on Android and iOS. Service worker caches the shell. Mobile bottom nav with animated active indicator. Splash screens, theme color, app icons (192/512/maskable).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26974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أضفه إلى الشاشة الرئيسية على أندرويد و iOS. عامل الخدمة يخزّن الواجهة. شريط تنقل سفلي للهاتف بمؤشر نشط متحرك. شاشات بداية، لون السمة، أيقونات.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8864" y="4572000"/>
            <a:ext cx="2670048" cy="164592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744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91744" y="52120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prompt with iOS Safari fallback hint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1744" y="57607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دعوة تثبيت مع تلميح بديل لـ iOS Safari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43504" y="4572000"/>
            <a:ext cx="2670048" cy="164592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6384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6384" y="52120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Network-first navigations + offline page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6384" y="57607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تنقلات أولوية للشبكة + صفحة بدون اتصال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8144" y="4572000"/>
            <a:ext cx="2670048" cy="164592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1024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61024" y="52120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Stale-while-revalidate caching for images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1024" y="57607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تخزين الصور بنمط Stale-while-revalidate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12784" y="4572000"/>
            <a:ext cx="2670048" cy="164592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5664" y="4709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95664" y="521208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bottom nav (glass-morphism, 5 tabs)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95664" y="576072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شريط تنقل سفلي للهاتف (زجاجي، 5 تبويبات)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التقنية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scalable, GCC-ready.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حديثة، قابلة للتوسع، جاهزة للخليج.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697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Next.js 14 App Router, TypeScript, Tailwind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الواجهة — Next.js 14، TypeScript، Tailwind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200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— framer-motion (cards, modals, drawers, nav)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الحركة — framer-motion (البطاقات، النوافذ، الأدراج، التنقل)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703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— react-hook-form + zod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7033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النماذج — react-hook-form + تحقق zod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206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custom manifest + service worker + maskable icons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— manifest وخدمة عاملة وأيقونات مخصصة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4709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— schema.org Vehicle JSON-LD, sitemap, hreflang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709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— JSON-LD للسيارات، خريطة الموقع، hreflang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5212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GitHub Actions → GitHub Pages (static export)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النشر — GitHub Actions → GitHub Pages (تصدير ثابت)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71500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5715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backend — Laravel or Node.js + PostgreSQL + Cloudinary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5715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الخلفية للمرحلة 2 — Laravel أو Node.js + PostgreSQL + Cloudinary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خارطة الطريق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GCC-wide platform.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النموذج الأولي إلى منصة خليجية شاملة.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840480"/>
            <a:ext cx="10911535" cy="0"/>
          </a:xfrm>
          <a:prstGeom prst="line">
            <a:avLst/>
          </a:prstGeom>
          <a:noFill/>
          <a:ln w="38100">
            <a:solidFill>
              <a:srgbClr val="E8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5940" y="3703320"/>
            <a:ext cx="274320" cy="274320"/>
          </a:xfrm>
          <a:prstGeom prst="ellipse">
            <a:avLst/>
          </a:prstGeom>
          <a:solidFill>
            <a:srgbClr val="E3641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1-3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297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release. Public site + admin preview, 12+ cars, WhatsApp funnel.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إطلاق النموذج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الإصدار الحالي. موقع عام + معاينة إدارة، 12+ سيارة، قمع واتساب.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4438" y="3703320"/>
            <a:ext cx="274320" cy="274320"/>
          </a:xfrm>
          <a:prstGeom prst="ellipse">
            <a:avLst/>
          </a:prstGeom>
          <a:solidFill>
            <a:srgbClr val="E3641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8578" y="2697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4-6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08578" y="416052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91458" y="4297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91458" y="46634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DB, auth, image upload, persistent leads, analytics.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91458" y="5532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خلفية حقيقية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91458" y="5852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API، قاعدة بيانات، تسجيل دخول، رفع صور، عملاء، تحليلات.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42937" y="3703320"/>
            <a:ext cx="274320" cy="274320"/>
          </a:xfrm>
          <a:prstGeom prst="ellipse">
            <a:avLst/>
          </a:prstGeom>
          <a:solidFill>
            <a:srgbClr val="E3641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7077" y="2697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7-12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7077" y="416052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59957" y="4297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9957" y="46634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sellers, multi-seller listings, Thawani payments, dealer plans.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9957" y="5532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سوق إلكتروني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9957" y="5852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بائعون موثقون، قوائم متعددة، مدفوعات ثواني، خطط الوكلاء.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111435" y="3703320"/>
            <a:ext cx="274320" cy="274320"/>
          </a:xfrm>
          <a:prstGeom prst="ellipse">
            <a:avLst/>
          </a:prstGeom>
          <a:solidFill>
            <a:srgbClr val="E3641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45575" y="26974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45575" y="416052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28455" y="4297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ecosystem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28455" y="466344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calculator, insurance, React Native app, GCC expansion.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28455" y="5532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منظومة متكاملة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28455" y="5852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حاسبة تمويل، تأمين، تطبيق React Native، توسع خليجي.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BUDGET TIERS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شرائح الميزانية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packages. One recommendation.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ثلاث باقات. توصية واحدة.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8280" y="283464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260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WordPress MVP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2600" y="3520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800–1,500 OMR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2600" y="4206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منخفضة — WordPress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2600" y="4617720"/>
            <a:ext cx="3108960" cy="0"/>
          </a:xfrm>
          <a:prstGeom prst="line">
            <a:avLst/>
          </a:prstGeom>
          <a:noFill/>
          <a:ln w="12700">
            <a:solidFill>
              <a:srgbClr val="E8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60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listings, WhatsApp integration, fast launch.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2600" y="5486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إعلانات أساسية، تكامل واتساب، إطلاق سريع.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75608" y="2743200"/>
            <a:ext cx="3840480" cy="384048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7048" y="2834640"/>
            <a:ext cx="3657600" cy="3657600"/>
          </a:xfrm>
          <a:prstGeom prst="rect">
            <a:avLst/>
          </a:prstGeom>
          <a:solidFill>
            <a:srgbClr val="0F4C5C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67048" y="2834640"/>
            <a:ext cx="3657600" cy="36576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7048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RECOMMENDED · موصى بها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41368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Custom build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41368" y="3794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3,000–6,000 OMR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41368" y="4480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موصى بها — مخصصة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41368" y="4892040"/>
            <a:ext cx="3108960" cy="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1368" y="4983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Next.js + Laravel, professional UI, Phase 1+2 complete, scalable.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1368" y="5760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Laravel مخصصة، واجهة احترافية، المرحلة 1+2 كاملة، قابلة للتوسع.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25816" y="283464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1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00136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Marketplace ready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00136" y="3520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10,000–18,000 OMR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400136" y="4206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عالية — جاهزة للسوق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00136" y="4617720"/>
            <a:ext cx="3108960" cy="0"/>
          </a:xfrm>
          <a:prstGeom prst="line">
            <a:avLst/>
          </a:prstGeom>
          <a:noFill/>
          <a:ln w="12700">
            <a:solidFill>
              <a:srgbClr val="E8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0136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marketplace, payments, multi-language, dealer dashboards, regional-ready.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00136" y="5486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سوق كامل، مدفوعات، متعدد اللغات، لوحات الوكلاء، جاهز إقليميًا.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COMPETITIVE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الميزة التنافسية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OpenSooq listing can offer.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08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لا يقدّمه أي إعلان على المنافسين.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4415" cy="0"/>
          </a:xfrm>
          <a:prstGeom prst="line">
            <a:avLst/>
          </a:prstGeom>
          <a:noFill/>
          <a:ln w="19050">
            <a:solidFill>
              <a:srgbClr val="E8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8864" y="2743200"/>
            <a:ext cx="2670048" cy="38404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864" y="3108960"/>
            <a:ext cx="267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691744" y="457200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1744" y="5120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مفحوصة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1744" y="576072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 has a 50-point report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43504" y="2743200"/>
            <a:ext cx="2670048" cy="3840480"/>
          </a:xfrm>
          <a:prstGeom prst="rect">
            <a:avLst/>
          </a:prstGeom>
          <a:solidFill>
            <a:srgbClr val="16707F"/>
          </a:solidFill>
          <a:ln w="12700">
            <a:solidFill>
              <a:srgbClr val="1670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3504" y="3108960"/>
            <a:ext cx="267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3526384" y="457200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Warranted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26384" y="5120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بضمان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6384" y="576072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coverage, not promises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8144" y="2743200"/>
            <a:ext cx="2670048" cy="384048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8144" y="3108960"/>
            <a:ext cx="267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0" dirty="0"/>
          </a:p>
        </p:txBody>
      </p:sp>
      <p:sp>
        <p:nvSpPr>
          <p:cNvPr id="20" name="Text 18"/>
          <p:cNvSpPr/>
          <p:nvPr/>
        </p:nvSpPr>
        <p:spPr>
          <a:xfrm>
            <a:off x="6361024" y="457200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61024" y="5120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موثقة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1024" y="576072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at every repair stage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2784" y="2743200"/>
            <a:ext cx="2670048" cy="3840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2784" y="3108960"/>
            <a:ext cx="267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0" dirty="0"/>
          </a:p>
        </p:txBody>
      </p:sp>
      <p:sp>
        <p:nvSpPr>
          <p:cNvPr id="25" name="Text 23"/>
          <p:cNvSpPr/>
          <p:nvPr/>
        </p:nvSpPr>
        <p:spPr>
          <a:xfrm>
            <a:off x="9195664" y="4572000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195664" y="5120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بلغتين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95664" y="576072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EN + AR with full RTL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E3641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0F4C5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640080"/>
            <a:ext cx="1188720" cy="11887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640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الخطوات التالية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are.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جاهزون متى استعديت.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live MVP, share with stakeholders, and let us know which phase to build next.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راجع النموذج الحي، شاركه مع الفريق، وأخبرنا بالمرحلة التالية للبناء.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2328" y="5440680"/>
            <a:ext cx="3383280" cy="73152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328" y="5486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2328" y="5733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de-ali.github.io/motara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04208" y="5440680"/>
            <a:ext cx="3383280" cy="73152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4208" y="5486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04208" y="5733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de-ali.github.io/motara/admin/login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16088" y="5440680"/>
            <a:ext cx="3383280" cy="731520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6088" y="5486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16088" y="5733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github.com/De-Ali/motara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Motara Auto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Motara Auto · Bilingual Pitch Deck</dc:title>
  <dc:subject>PptxGenJS Presentation</dc:subject>
  <dc:creator>Shuneria for Motara Auto</dc:creator>
  <cp:lastModifiedBy>Shuneria for Motara Auto</cp:lastModifiedBy>
  <cp:revision>1</cp:revision>
  <dcterms:created xsi:type="dcterms:W3CDTF">2026-04-29T17:18:34Z</dcterms:created>
  <dcterms:modified xsi:type="dcterms:W3CDTF">2026-04-29T17:18:34Z</dcterms:modified>
</cp:coreProperties>
</file>